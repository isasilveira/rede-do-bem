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matic SC" panose="00000500000000000000" pitchFamily="2" charset="-79"/>
      <p:regular r:id="rId12"/>
    </p:embeddedFont>
    <p:embeddedFont>
      <p:font typeface="Nunito" pitchFamily="2" charset="0"/>
      <p:regular r:id="rId13"/>
    </p:embeddedFont>
    <p:embeddedFont>
      <p:font typeface="Nunito Sans" pitchFamily="2" charset="0"/>
      <p:regular r:id="rId14"/>
    </p:embeddedFont>
    <p:embeddedFont>
      <p:font typeface="Nunito Sans Bold" charset="0"/>
      <p:regular r:id="rId15"/>
    </p:embeddedFont>
    <p:embeddedFont>
      <p:font typeface="Nunito Sans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2CCF4-317F-4EE5-AFA9-BC56637019C9}" v="11" dt="2026-06-17T22:04:43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5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a Mendonça Silveira" userId="2ef8c630-d7fd-479c-80ff-0f4440a0b861" providerId="ADAL" clId="{E6B02089-3F73-491A-969E-CE8F35F69D44}"/>
    <pc:docChg chg="undo custSel modSld">
      <pc:chgData name="Isabela Mendonça Silveira" userId="2ef8c630-d7fd-479c-80ff-0f4440a0b861" providerId="ADAL" clId="{E6B02089-3F73-491A-969E-CE8F35F69D44}" dt="2026-06-17T22:04:58.033" v="748" actId="207"/>
      <pc:docMkLst>
        <pc:docMk/>
      </pc:docMkLst>
      <pc:sldChg chg="addSp delSp modSp mod modNotesTx">
        <pc:chgData name="Isabela Mendonça Silveira" userId="2ef8c630-d7fd-479c-80ff-0f4440a0b861" providerId="ADAL" clId="{E6B02089-3F73-491A-969E-CE8F35F69D44}" dt="2026-06-17T22:04:58.033" v="748" actId="207"/>
        <pc:sldMkLst>
          <pc:docMk/>
          <pc:sldMk cId="0" sldId="256"/>
        </pc:sldMkLst>
        <pc:spChg chg="mod">
          <ac:chgData name="Isabela Mendonça Silveira" userId="2ef8c630-d7fd-479c-80ff-0f4440a0b861" providerId="ADAL" clId="{E6B02089-3F73-491A-969E-CE8F35F69D44}" dt="2026-06-17T22:04:58.033" v="748" actId="207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Isabela Mendonça Silveira" userId="2ef8c630-d7fd-479c-80ff-0f4440a0b861" providerId="ADAL" clId="{E6B02089-3F73-491A-969E-CE8F35F69D44}" dt="2026-06-17T22:04:29.403" v="744"/>
          <ac:spMkLst>
            <pc:docMk/>
            <pc:sldMk cId="0" sldId="256"/>
            <ac:spMk id="19" creationId="{BBA2652F-5635-B9FC-F3F7-FA5CE4FAC93F}"/>
          </ac:spMkLst>
        </pc:spChg>
        <pc:spChg chg="add mod">
          <ac:chgData name="Isabela Mendonça Silveira" userId="2ef8c630-d7fd-479c-80ff-0f4440a0b861" providerId="ADAL" clId="{E6B02089-3F73-491A-969E-CE8F35F69D44}" dt="2026-06-17T22:04:34.224" v="745"/>
          <ac:spMkLst>
            <pc:docMk/>
            <pc:sldMk cId="0" sldId="256"/>
            <ac:spMk id="20" creationId="{4F8F03BE-A076-3251-A305-73F0461A4619}"/>
          </ac:spMkLst>
        </pc:spChg>
      </pc:sldChg>
      <pc:sldChg chg="modSp mod modNotesTx">
        <pc:chgData name="Isabela Mendonça Silveira" userId="2ef8c630-d7fd-479c-80ff-0f4440a0b861" providerId="ADAL" clId="{E6B02089-3F73-491A-969E-CE8F35F69D44}" dt="2026-06-17T21:50:03.233" v="318" actId="20577"/>
        <pc:sldMkLst>
          <pc:docMk/>
          <pc:sldMk cId="0" sldId="257"/>
        </pc:sldMkLst>
        <pc:spChg chg="mod">
          <ac:chgData name="Isabela Mendonça Silveira" userId="2ef8c630-d7fd-479c-80ff-0f4440a0b861" providerId="ADAL" clId="{E6B02089-3F73-491A-969E-CE8F35F69D44}" dt="2026-06-17T17:46:07.887" v="12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Isabela Mendonça Silveira" userId="2ef8c630-d7fd-479c-80ff-0f4440a0b861" providerId="ADAL" clId="{E6B02089-3F73-491A-969E-CE8F35F69D44}" dt="2026-06-17T17:46:01.750" v="10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Isabela Mendonça Silveira" userId="2ef8c630-d7fd-479c-80ff-0f4440a0b861" providerId="ADAL" clId="{E6B02089-3F73-491A-969E-CE8F35F69D44}" dt="2026-06-17T17:45:54.268" v="8" actId="14100"/>
          <ac:spMkLst>
            <pc:docMk/>
            <pc:sldMk cId="0" sldId="257"/>
            <ac:spMk id="12" creationId="{00000000-0000-0000-0000-000000000000}"/>
          </ac:spMkLst>
        </pc:spChg>
      </pc:sldChg>
      <pc:sldChg chg="modNotesTx">
        <pc:chgData name="Isabela Mendonça Silveira" userId="2ef8c630-d7fd-479c-80ff-0f4440a0b861" providerId="ADAL" clId="{E6B02089-3F73-491A-969E-CE8F35F69D44}" dt="2026-06-17T21:51:51.180" v="328" actId="20577"/>
        <pc:sldMkLst>
          <pc:docMk/>
          <pc:sldMk cId="0" sldId="259"/>
        </pc:sldMkLst>
      </pc:sldChg>
      <pc:sldChg chg="modSp mod">
        <pc:chgData name="Isabela Mendonça Silveira" userId="2ef8c630-d7fd-479c-80ff-0f4440a0b861" providerId="ADAL" clId="{E6B02089-3F73-491A-969E-CE8F35F69D44}" dt="2026-06-17T17:44:14.354" v="2" actId="14100"/>
        <pc:sldMkLst>
          <pc:docMk/>
          <pc:sldMk cId="0" sldId="261"/>
        </pc:sldMkLst>
        <pc:spChg chg="mod">
          <ac:chgData name="Isabela Mendonça Silveira" userId="2ef8c630-d7fd-479c-80ff-0f4440a0b861" providerId="ADAL" clId="{E6B02089-3F73-491A-969E-CE8F35F69D44}" dt="2026-06-17T17:44:14.354" v="2" actId="14100"/>
          <ac:spMkLst>
            <pc:docMk/>
            <pc:sldMk cId="0" sldId="261"/>
            <ac:spMk id="10" creationId="{00000000-0000-0000-0000-000000000000}"/>
          </ac:spMkLst>
        </pc:spChg>
      </pc:sldChg>
      <pc:sldChg chg="modNotesTx">
        <pc:chgData name="Isabela Mendonça Silveira" userId="2ef8c630-d7fd-479c-80ff-0f4440a0b861" providerId="ADAL" clId="{E6B02089-3F73-491A-969E-CE8F35F69D44}" dt="2026-06-17T21:59:38.191" v="485" actId="20577"/>
        <pc:sldMkLst>
          <pc:docMk/>
          <pc:sldMk cId="0" sldId="263"/>
        </pc:sldMkLst>
      </pc:sldChg>
      <pc:sldChg chg="modNotesTx">
        <pc:chgData name="Isabela Mendonça Silveira" userId="2ef8c630-d7fd-479c-80ff-0f4440a0b861" providerId="ADAL" clId="{E6B02089-3F73-491A-969E-CE8F35F69D44}" dt="2026-06-17T22:00:43.394" v="721" actId="2057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177CA-ACBC-44E1-967E-F52CFB31B305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2D737-F940-4AE5-A256-99C47C6CD0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79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Boa noite pessoal, hoje vou apresentar o projeto Rede do Bem, que desenvolvemos durantes o semestre.</a:t>
            </a:r>
          </a:p>
          <a:p>
            <a:r>
              <a:rPr lang="pt-BR" dirty="0"/>
              <a:t>Os integrantes do grupo são</a:t>
            </a:r>
            <a:br>
              <a:rPr lang="pt-BR" dirty="0"/>
            </a:b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Tálison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Miguel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Amancio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Emanoel de Araujo santo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Gabriel Rezende da Silva Maia</a:t>
            </a: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Uelton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Pereira Motta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Isabela Mendonça Silveira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Guilherme Fernandes dos Santos Coimbra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298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ato de doar é um gesto profundamente humano. Mesmo que pequeno, ele tem o poder de transformar a realidade de quem precisa. É uma prática comum na sociedade, mas que carrega desafios reais — e entender esses desafios foi o ponto de partida do nosso projeto.</a:t>
            </a:r>
            <a:br>
              <a:rPr lang="pt-BR" dirty="0"/>
            </a:br>
            <a:r>
              <a:rPr lang="pt-BR" dirty="0"/>
              <a:t>Pensamos primeiro quais pessoas utilizariam o nosso sistema? E surgiram as nossas personas</a:t>
            </a:r>
          </a:p>
          <a:p>
            <a:r>
              <a:rPr lang="pt-BR" dirty="0"/>
              <a:t>João Silva é um doador frequente. Ele costuma separar roupas e alimentos para doar, mas a rotina de trabalho consome quase todo o seu tempo. A vontade existe, porém falta o caminho. Carlos Mendes, por sua vez, é responsável por uma organização não governamental comunitária. Ele organiza campanhas de arrecadação, gerencia voluntários e coordena a distribuição de doações para famílias em situação de vulnerabilidade. O problema dele é o oposto: sabe exatamente onde a ajuda precisa chegar, mas tem dificuldade em alcançar quem quer ajudar. E há ainda Clara, mãe solo de dois filhos, que vive em situação precária. Ela é o motivo final de tudo — a pessoa cuja vida pode ser transformada por uma doação feita no momento certo.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613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Ao analisar esse cenário e pensar no fluxo do sistema, encontramos uma barreira social importante: quem mais precisa, na maioria das vezes, não tem acesso à internet e possui baixa escolaridade. Desenvolver uma solução pensada para Clara seria, paradoxalmente, não alcançá-la. Por isso, decidimos focar nos agentes transformadores dessa causa — conectando quem quer doar a quem sabe onde entregar, como João e Carlos.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686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Por isso O objetivo do sistema é desenvolver uma plataforma digital que conecte doadores e instituições sociais, facilitando a divulgação de campanhas de doação, a localização de pontos de coleta e o fortalecimento de ações solidárias, por meio de um ambiente centralizado, acessível e colaborativo.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284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essas pessoas em mente, definimos dois tipos de usuário: o doador e a instituição.</a:t>
            </a:r>
          </a:p>
          <a:p>
            <a:r>
              <a:rPr lang="pt-BR" dirty="0"/>
              <a:t>O doador é qualquer pessoa que deseja contribuir com uma doação. Ele pode criar campanhas de arrecadação, informando o tipo de item aceito, o período de coleta, o endereço e uma descrição geral. Essas campanhas ficam visíveis para todos os usuários da plataforma e podem ser filtradas por localização, facilitando encontrar o ponto de coleta mais próximo.</a:t>
            </a:r>
          </a:p>
          <a:p>
            <a:r>
              <a:rPr lang="pt-BR" dirty="0"/>
              <a:t>A instituição representa ONGs e projetos sociais com endereço fixo e estrutura mais consolidada. Seu perfil fica público na plataforma, permitindo que qualquer usuário a encontre e entre em contato. As instituições também podem criar e gerenciar suas próprias campanhas de arrecadação.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728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campanhas de doação são o principal requisito do sistema. Qualquer usuário — doador ou instituição — pode criar uma campanha informando o tipo de item aceito, o período de coleta, o endereço e uma descrição geral. As campanhas ficam visíveis para todos os usuários da plataforma e podem ser filtradas por localização, permitindo que cada pessoa encontre o ponto de coleta mais próximo de si. A instituição, ao receber uma doação presencialmente, pode validá-la dentro do próprio sistema, e o contador de contribuições é atualizado em tempo real na página da campanha.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152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Além das campanhas, o sistema conta com um conjunto de recursos que ampliam a experiência de uso. O cadastro e login são diferenciados por tipo de perfil, com edição de informações como nome, foto, contato e endereço. A visualização de pontos de doação suporta tanto lista quanto mapa interativo, priorizando campanhas e instituições próximas à localização do usuário. É possível filtrar resultados por categoria de doação, como alimentos e roupas, salvar instituições favoritas para acompanhar atualizações e compartilhar campanhas externamente por link. O sistema também conta com denúncia de pontos irregulares, dashboard com métricas do perfil e notificações de novas campanhas próximas ou de instituições que o usuário acompanha.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185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identidade visual do app foi desenvolvida para transmitir confiança, acolhimento e acessibilidade, refletindo o caráter social da plataforma. O conceito se apoia em quatro princípios: humanização, clareza, confiança e direcionamento de ação — garantindo que o usuário navegue de forma intuitiva e que o ato de doar seja sempre destacado.</a:t>
            </a:r>
          </a:p>
          <a:p>
            <a:r>
              <a:rPr lang="pt-BR" dirty="0"/>
              <a:t>A paleta de cores foi definida com base na psicologia das cores. O azul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#3B568C</a:t>
            </a:r>
            <a:r>
              <a:rPr lang="pt-BR" dirty="0"/>
              <a:t>) é a cor principal, transmitindo segurança. E os tons de verde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#3B7866</a:t>
            </a:r>
            <a:r>
              <a:rPr lang="pt-BR" dirty="0"/>
              <a:t> e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#EAF2AE</a:t>
            </a:r>
            <a:r>
              <a:rPr lang="pt-BR" dirty="0"/>
              <a:t>) reforçam o impacto social, As cores neutras garantem leveza e legibilidade.</a:t>
            </a:r>
          </a:p>
          <a:p>
            <a:r>
              <a:rPr lang="pt-BR" dirty="0"/>
              <a:t>A tipografia segue uma hierarquia clara: temos uma tipografia imitando o escrito à mão na logo, reforçando o aspecto humano; E uma diferença de letra nos títulos, criando hierarquia visual e nos textos, garantindo conforto de leitura em qualquer tela.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111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Bom, </a:t>
            </a:r>
            <a:r>
              <a:rPr lang="pt-BR" dirty="0" err="1"/>
              <a:t>agoa</a:t>
            </a:r>
            <a:r>
              <a:rPr lang="pt-BR" dirty="0"/>
              <a:t> que eu dei um contexto sobre o nosso app, e como foi a nossa jornada pra chegar nesse resultado. Agora vamos apresentar ele funcionando, pra vocês entenderem suas funcionalidades e o que pode ser alcançado com o app.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2D737-F940-4AE5-A256-99C47C6CD08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001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239766">
            <a:off x="11104269" y="2542812"/>
            <a:ext cx="4803408" cy="9761726"/>
            <a:chOff x="0" y="0"/>
            <a:chExt cx="5001260" cy="10163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20" r="-2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1239766">
            <a:off x="14773803" y="-7187446"/>
            <a:ext cx="4803408" cy="9761726"/>
            <a:chOff x="0" y="0"/>
            <a:chExt cx="5001260" cy="101638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t="-462" b="-46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1239766">
            <a:off x="14848636" y="8093720"/>
            <a:ext cx="4803408" cy="9761726"/>
            <a:chOff x="0" y="0"/>
            <a:chExt cx="5001260" cy="101638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t="-462" b="-46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 rot="1239766">
            <a:off x="18518170" y="-1636538"/>
            <a:ext cx="4803408" cy="9761726"/>
            <a:chOff x="0" y="0"/>
            <a:chExt cx="5001260" cy="101638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t="-462" b="-46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 rot="1239766">
            <a:off x="8417949" y="-5521940"/>
            <a:ext cx="4803408" cy="9761726"/>
            <a:chOff x="0" y="0"/>
            <a:chExt cx="5001260" cy="101638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6"/>
              <a:stretch>
                <a:fillRect t="-374" b="-37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78940" y="5499448"/>
            <a:ext cx="2447862" cy="2416707"/>
          </a:xfrm>
          <a:custGeom>
            <a:avLst/>
            <a:gdLst/>
            <a:ahLst/>
            <a:cxnLst/>
            <a:rect l="l" t="t" r="r" b="b"/>
            <a:pathLst>
              <a:path w="2447862" h="2416707">
                <a:moveTo>
                  <a:pt x="0" y="0"/>
                </a:moveTo>
                <a:lnTo>
                  <a:pt x="2447861" y="0"/>
                </a:lnTo>
                <a:lnTo>
                  <a:pt x="2447861" y="2416707"/>
                </a:lnTo>
                <a:lnTo>
                  <a:pt x="0" y="2416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739807" y="529797"/>
            <a:ext cx="4508649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Tálison</a:t>
            </a:r>
            <a:r>
              <a:rPr lang="pt-BR" dirty="0">
                <a:solidFill>
                  <a:schemeClr val="bg1"/>
                </a:solidFill>
              </a:rPr>
              <a:t> Miguel </a:t>
            </a:r>
            <a:r>
              <a:rPr lang="pt-BR" dirty="0" err="1">
                <a:solidFill>
                  <a:schemeClr val="bg1"/>
                </a:solidFill>
              </a:rPr>
              <a:t>Amancio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Emanoel de Araujo santo</a:t>
            </a:r>
          </a:p>
          <a:p>
            <a:r>
              <a:rPr lang="pt-BR" dirty="0">
                <a:solidFill>
                  <a:schemeClr val="bg1"/>
                </a:solidFill>
              </a:rPr>
              <a:t>Gabriel Rezende da Silva Maia</a:t>
            </a:r>
          </a:p>
          <a:p>
            <a:r>
              <a:rPr lang="pt-BR" dirty="0" err="1">
                <a:solidFill>
                  <a:schemeClr val="bg1"/>
                </a:solidFill>
              </a:rPr>
              <a:t>Uelton</a:t>
            </a:r>
            <a:r>
              <a:rPr lang="pt-BR" dirty="0">
                <a:solidFill>
                  <a:schemeClr val="bg1"/>
                </a:solidFill>
              </a:rPr>
              <a:t> Pereira Motta</a:t>
            </a:r>
          </a:p>
          <a:p>
            <a:r>
              <a:rPr lang="pt-BR" dirty="0">
                <a:solidFill>
                  <a:schemeClr val="bg1"/>
                </a:solidFill>
              </a:rPr>
              <a:t>Isabela Mendonça Silveira</a:t>
            </a:r>
          </a:p>
          <a:p>
            <a:r>
              <a:rPr lang="pt-BR" dirty="0">
                <a:solidFill>
                  <a:schemeClr val="bg1"/>
                </a:solidFill>
              </a:rPr>
              <a:t>Guilherme Fernandes dos Santos Coimbra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4F8F03BE-A076-3251-A305-73F0461A4619}"/>
              </a:ext>
            </a:extLst>
          </p:cNvPr>
          <p:cNvSpPr txBox="1"/>
          <p:nvPr/>
        </p:nvSpPr>
        <p:spPr>
          <a:xfrm>
            <a:off x="4787751" y="5881984"/>
            <a:ext cx="4508649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 err="1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Unindo</a:t>
            </a:r>
            <a:r>
              <a:rPr lang="en-US" sz="3600" dirty="0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 err="1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mãos</a:t>
            </a:r>
            <a:r>
              <a:rPr lang="en-US" sz="3600" dirty="0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 err="1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que</a:t>
            </a:r>
            <a:r>
              <a:rPr lang="en-US" sz="3600" dirty="0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 err="1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doam</a:t>
            </a:r>
            <a:r>
              <a:rPr lang="en-US" sz="3600" dirty="0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 a quem sabe </a:t>
            </a:r>
            <a:r>
              <a:rPr lang="en-US" sz="3600" dirty="0" err="1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entregar</a:t>
            </a:r>
            <a:endParaRPr lang="en-US" sz="3600" dirty="0">
              <a:solidFill>
                <a:srgbClr val="3B568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07555" y="1028700"/>
            <a:ext cx="8251745" cy="2392695"/>
            <a:chOff x="0" y="0"/>
            <a:chExt cx="17828143" cy="5169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28143" cy="5169491"/>
            </a:xfrm>
            <a:custGeom>
              <a:avLst/>
              <a:gdLst/>
              <a:ahLst/>
              <a:cxnLst/>
              <a:rect l="l" t="t" r="r" b="b"/>
              <a:pathLst>
                <a:path w="17828143" h="5169491">
                  <a:moveTo>
                    <a:pt x="17703684" y="5169490"/>
                  </a:moveTo>
                  <a:lnTo>
                    <a:pt x="124460" y="5169490"/>
                  </a:lnTo>
                  <a:cubicBezTo>
                    <a:pt x="55880" y="5169490"/>
                    <a:pt x="0" y="5113610"/>
                    <a:pt x="0" y="50450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703684" y="0"/>
                  </a:lnTo>
                  <a:cubicBezTo>
                    <a:pt x="17772262" y="0"/>
                    <a:pt x="17828143" y="55880"/>
                    <a:pt x="17828143" y="124460"/>
                  </a:cubicBezTo>
                  <a:lnTo>
                    <a:pt x="17828143" y="5045030"/>
                  </a:lnTo>
                  <a:cubicBezTo>
                    <a:pt x="17828143" y="5113610"/>
                    <a:pt x="17772262" y="5169491"/>
                    <a:pt x="17703684" y="5169491"/>
                  </a:cubicBezTo>
                  <a:close/>
                </a:path>
              </a:pathLst>
            </a:custGeom>
            <a:solidFill>
              <a:srgbClr val="3B568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07555" y="3947152"/>
            <a:ext cx="8251745" cy="2392695"/>
            <a:chOff x="0" y="0"/>
            <a:chExt cx="17828143" cy="5169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828143" cy="5169491"/>
            </a:xfrm>
            <a:custGeom>
              <a:avLst/>
              <a:gdLst/>
              <a:ahLst/>
              <a:cxnLst/>
              <a:rect l="l" t="t" r="r" b="b"/>
              <a:pathLst>
                <a:path w="17828143" h="5169491">
                  <a:moveTo>
                    <a:pt x="17703684" y="5169490"/>
                  </a:moveTo>
                  <a:lnTo>
                    <a:pt x="124460" y="5169490"/>
                  </a:lnTo>
                  <a:cubicBezTo>
                    <a:pt x="55880" y="5169490"/>
                    <a:pt x="0" y="5113610"/>
                    <a:pt x="0" y="50450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703684" y="0"/>
                  </a:lnTo>
                  <a:cubicBezTo>
                    <a:pt x="17772262" y="0"/>
                    <a:pt x="17828143" y="55880"/>
                    <a:pt x="17828143" y="124460"/>
                  </a:cubicBezTo>
                  <a:lnTo>
                    <a:pt x="17828143" y="5045030"/>
                  </a:lnTo>
                  <a:cubicBezTo>
                    <a:pt x="17828143" y="5113610"/>
                    <a:pt x="17772262" y="5169491"/>
                    <a:pt x="17703684" y="5169491"/>
                  </a:cubicBezTo>
                  <a:close/>
                </a:path>
              </a:pathLst>
            </a:custGeom>
            <a:solidFill>
              <a:srgbClr val="3B568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07555" y="6865605"/>
            <a:ext cx="8251745" cy="2392695"/>
            <a:chOff x="0" y="0"/>
            <a:chExt cx="17828143" cy="51694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8143" cy="5169491"/>
            </a:xfrm>
            <a:custGeom>
              <a:avLst/>
              <a:gdLst/>
              <a:ahLst/>
              <a:cxnLst/>
              <a:rect l="l" t="t" r="r" b="b"/>
              <a:pathLst>
                <a:path w="17828143" h="5169491">
                  <a:moveTo>
                    <a:pt x="17703684" y="5169490"/>
                  </a:moveTo>
                  <a:lnTo>
                    <a:pt x="124460" y="5169490"/>
                  </a:lnTo>
                  <a:cubicBezTo>
                    <a:pt x="55880" y="5169490"/>
                    <a:pt x="0" y="5113610"/>
                    <a:pt x="0" y="50450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703684" y="0"/>
                  </a:lnTo>
                  <a:cubicBezTo>
                    <a:pt x="17772262" y="0"/>
                    <a:pt x="17828143" y="55880"/>
                    <a:pt x="17828143" y="124460"/>
                  </a:cubicBezTo>
                  <a:lnTo>
                    <a:pt x="17828143" y="5045030"/>
                  </a:lnTo>
                  <a:cubicBezTo>
                    <a:pt x="17828143" y="5113610"/>
                    <a:pt x="17772262" y="5169491"/>
                    <a:pt x="17703684" y="5169491"/>
                  </a:cubicBezTo>
                  <a:close/>
                </a:path>
              </a:pathLst>
            </a:custGeom>
            <a:solidFill>
              <a:srgbClr val="3B568C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5143500"/>
            <a:ext cx="6662057" cy="4114800"/>
          </a:xfrm>
          <a:custGeom>
            <a:avLst/>
            <a:gdLst/>
            <a:ahLst/>
            <a:cxnLst/>
            <a:rect l="l" t="t" r="r" b="b"/>
            <a:pathLst>
              <a:path w="6662057" h="4114800">
                <a:moveTo>
                  <a:pt x="0" y="0"/>
                </a:moveTo>
                <a:lnTo>
                  <a:pt x="6662057" y="0"/>
                </a:lnTo>
                <a:lnTo>
                  <a:pt x="6662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9982200" y="1416058"/>
            <a:ext cx="6248400" cy="1627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João Silva —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Doador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frequente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.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Quer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ajudar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tem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roupas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e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alimentos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sobrando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, mas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sua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rotina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apertada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faz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com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que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as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doações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fiquem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paradas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em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casa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por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99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semanas</a:t>
            </a:r>
            <a:r>
              <a:rPr lang="en-US" sz="2299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71550"/>
            <a:ext cx="7206695" cy="177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O ATO DE DOAR, É UM GESTO HUMANO QUE POSSIBILITA MELHORAR A VIDA DE ALGUÉM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82200" y="4134485"/>
            <a:ext cx="6248400" cy="1627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Carlos Mendes — Gestor de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uma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ONG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comunitária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.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Organiza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campanhas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coordena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voluntários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e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distribui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doações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para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famílias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em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situação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de </a:t>
            </a:r>
            <a:r>
              <a:rPr lang="en-US" sz="2300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vulnerabilidade</a:t>
            </a:r>
            <a:r>
              <a:rPr lang="en-US" sz="2300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82200" y="7470408"/>
            <a:ext cx="6248400" cy="1216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Clara —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Mãe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solo,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dois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filhos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em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situação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de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vulnerabilidade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. Ela é o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motivo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final de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tudo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284" dirty="0" err="1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isso</a:t>
            </a:r>
            <a:r>
              <a:rPr lang="en-US" sz="2284" dirty="0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8262" y="5311038"/>
            <a:ext cx="19215959" cy="5221269"/>
            <a:chOff x="0" y="0"/>
            <a:chExt cx="41516658" cy="11280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16657" cy="11280709"/>
            </a:xfrm>
            <a:custGeom>
              <a:avLst/>
              <a:gdLst/>
              <a:ahLst/>
              <a:cxnLst/>
              <a:rect l="l" t="t" r="r" b="b"/>
              <a:pathLst>
                <a:path w="41516657" h="11280709">
                  <a:moveTo>
                    <a:pt x="41392199" y="11280709"/>
                  </a:moveTo>
                  <a:lnTo>
                    <a:pt x="124460" y="11280709"/>
                  </a:lnTo>
                  <a:cubicBezTo>
                    <a:pt x="55880" y="11280709"/>
                    <a:pt x="0" y="11224829"/>
                    <a:pt x="0" y="1115624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392199" y="0"/>
                  </a:lnTo>
                  <a:cubicBezTo>
                    <a:pt x="41460778" y="0"/>
                    <a:pt x="41516657" y="55880"/>
                    <a:pt x="41516657" y="124460"/>
                  </a:cubicBezTo>
                  <a:lnTo>
                    <a:pt x="41516657" y="11156249"/>
                  </a:lnTo>
                  <a:cubicBezTo>
                    <a:pt x="41516657" y="11224829"/>
                    <a:pt x="41460778" y="11280709"/>
                    <a:pt x="41392199" y="11280709"/>
                  </a:cubicBezTo>
                  <a:close/>
                </a:path>
              </a:pathLst>
            </a:custGeom>
            <a:solidFill>
              <a:srgbClr val="3B568C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9144000" y="2093398"/>
            <a:ext cx="9344992" cy="6100203"/>
          </a:xfrm>
          <a:custGeom>
            <a:avLst/>
            <a:gdLst/>
            <a:ahLst/>
            <a:cxnLst/>
            <a:rect l="l" t="t" r="r" b="b"/>
            <a:pathLst>
              <a:path w="9344992" h="6100203">
                <a:moveTo>
                  <a:pt x="0" y="0"/>
                </a:moveTo>
                <a:lnTo>
                  <a:pt x="9344992" y="0"/>
                </a:lnTo>
                <a:lnTo>
                  <a:pt x="9344992" y="6100204"/>
                </a:lnTo>
                <a:lnTo>
                  <a:pt x="0" y="6100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028700" y="2148501"/>
            <a:ext cx="7020057" cy="989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4"/>
              </a:lnSpc>
              <a:spcBef>
                <a:spcPct val="0"/>
              </a:spcBef>
            </a:pPr>
            <a:r>
              <a:rPr lang="en-US" sz="5824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PROBLEMA: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429499"/>
            <a:ext cx="8115300" cy="360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FFFFF7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QUANDO ANALISAMOS O CONTEXTO, ENCONTRAMOS UMA BARREIRA SOCIAL IMPORTANTE: QUEM MAIS PRECISA, MUITAS VEZES NÃO TEM ACESSO DIGITAL. POR ISSO, DECIDIMOS FOCAR NOS AGENTES TRANSFORMADORES 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FFF7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 - QUEM QUER DOAR E QUEM SABE ONDE ENTREGAR.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886352" y="1028700"/>
            <a:ext cx="5385637" cy="10944960"/>
            <a:chOff x="0" y="0"/>
            <a:chExt cx="5001260" cy="10163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382" r="-38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34392" y="1541570"/>
            <a:ext cx="7450774" cy="208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6"/>
              </a:lnSpc>
            </a:pPr>
            <a:r>
              <a:rPr lang="en-US" sz="6394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NOSSO</a:t>
            </a:r>
          </a:p>
          <a:p>
            <a:pPr algn="l">
              <a:lnSpc>
                <a:spcPts val="8376"/>
              </a:lnSpc>
            </a:pPr>
            <a:r>
              <a:rPr lang="en-US" sz="6394">
                <a:solidFill>
                  <a:srgbClr val="FFFFF7"/>
                </a:solidFill>
                <a:latin typeface="Nunito Sans"/>
                <a:ea typeface="Nunito Sans"/>
                <a:cs typeface="Nunito Sans"/>
                <a:sym typeface="Nunito Sans"/>
              </a:rPr>
              <a:t>OBJETIVO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4392" y="5293850"/>
            <a:ext cx="7968442" cy="235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6"/>
              </a:lnSpc>
              <a:spcBef>
                <a:spcPct val="0"/>
              </a:spcBef>
            </a:pPr>
            <a:r>
              <a:rPr lang="en-US" sz="2719" b="1" spc="149">
                <a:solidFill>
                  <a:srgbClr val="EAF2AE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UMA PLATAFORMA QUE TRANSFORMA A INTENÇÃO DE AJUDAR EM DOAÇÃO REAL </a:t>
            </a:r>
          </a:p>
          <a:p>
            <a:pPr algn="l">
              <a:lnSpc>
                <a:spcPts val="3806"/>
              </a:lnSpc>
              <a:spcBef>
                <a:spcPct val="0"/>
              </a:spcBef>
            </a:pPr>
            <a:endParaRPr lang="en-US" sz="2719" b="1" spc="149">
              <a:solidFill>
                <a:srgbClr val="EAF2AE"/>
              </a:solidFill>
              <a:latin typeface="Nunito Sans Semi-Bold"/>
              <a:ea typeface="Nunito Sans Semi-Bold"/>
              <a:cs typeface="Nunito Sans Semi-Bold"/>
              <a:sym typeface="Nunito Sans Semi-Bold"/>
            </a:endParaRPr>
          </a:p>
          <a:p>
            <a:pPr algn="l">
              <a:lnSpc>
                <a:spcPts val="3806"/>
              </a:lnSpc>
              <a:spcBef>
                <a:spcPct val="0"/>
              </a:spcBef>
            </a:pPr>
            <a:r>
              <a:rPr lang="en-US" sz="2719" b="1" spc="149">
                <a:solidFill>
                  <a:srgbClr val="EAF2AE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CONECTANDO DOADORES, INSTITUIÇÕES E CAMPANHAS EM UM SÓ LUGAR.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17261"/>
            <a:ext cx="3194685" cy="3809048"/>
          </a:xfrm>
          <a:custGeom>
            <a:avLst/>
            <a:gdLst/>
            <a:ahLst/>
            <a:cxnLst/>
            <a:rect l="l" t="t" r="r" b="b"/>
            <a:pathLst>
              <a:path w="3194685" h="3809048">
                <a:moveTo>
                  <a:pt x="0" y="0"/>
                </a:moveTo>
                <a:lnTo>
                  <a:pt x="3194685" y="0"/>
                </a:lnTo>
                <a:lnTo>
                  <a:pt x="3194685" y="3809048"/>
                </a:lnTo>
                <a:lnTo>
                  <a:pt x="0" y="3809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855" t="-38397" r="-111647" b="-8280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747173" y="5581377"/>
            <a:ext cx="3194685" cy="3809375"/>
          </a:xfrm>
          <a:custGeom>
            <a:avLst/>
            <a:gdLst/>
            <a:ahLst/>
            <a:cxnLst/>
            <a:rect l="l" t="t" r="r" b="b"/>
            <a:pathLst>
              <a:path w="3194685" h="3809375">
                <a:moveTo>
                  <a:pt x="0" y="0"/>
                </a:moveTo>
                <a:lnTo>
                  <a:pt x="3194685" y="0"/>
                </a:lnTo>
                <a:lnTo>
                  <a:pt x="3194685" y="3809375"/>
                </a:lnTo>
                <a:lnTo>
                  <a:pt x="0" y="380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900" t="-37334" r="-111647" b="-887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933450"/>
            <a:ext cx="13215444" cy="82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EAF2AE"/>
                </a:solidFill>
                <a:latin typeface="Nunito Sans"/>
                <a:ea typeface="Nunito Sans"/>
                <a:cs typeface="Nunito Sans"/>
                <a:sym typeface="Nunito Sans"/>
              </a:rPr>
              <a:t>PERFIS DE USUÁRIOS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605319" y="2862029"/>
            <a:ext cx="7683784" cy="2719512"/>
            <a:chOff x="0" y="0"/>
            <a:chExt cx="16601047" cy="58755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01047" cy="5875587"/>
            </a:xfrm>
            <a:custGeom>
              <a:avLst/>
              <a:gdLst/>
              <a:ahLst/>
              <a:cxnLst/>
              <a:rect l="l" t="t" r="r" b="b"/>
              <a:pathLst>
                <a:path w="16601047" h="5875587">
                  <a:moveTo>
                    <a:pt x="16476587" y="5875586"/>
                  </a:moveTo>
                  <a:lnTo>
                    <a:pt x="124460" y="5875586"/>
                  </a:lnTo>
                  <a:cubicBezTo>
                    <a:pt x="55880" y="5875586"/>
                    <a:pt x="0" y="5819706"/>
                    <a:pt x="0" y="575112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476587" y="0"/>
                  </a:lnTo>
                  <a:cubicBezTo>
                    <a:pt x="16545167" y="0"/>
                    <a:pt x="16601047" y="55880"/>
                    <a:pt x="16601047" y="124460"/>
                  </a:cubicBezTo>
                  <a:lnTo>
                    <a:pt x="16601047" y="5751126"/>
                  </a:lnTo>
                  <a:cubicBezTo>
                    <a:pt x="16601047" y="5819706"/>
                    <a:pt x="16545167" y="5875587"/>
                    <a:pt x="16476587" y="5875587"/>
                  </a:cubicBezTo>
                  <a:close/>
                </a:path>
              </a:pathLst>
            </a:custGeom>
            <a:solidFill>
              <a:srgbClr val="FFFFF7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40411" y="3412795"/>
            <a:ext cx="7013600" cy="157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Pessoa física que quer contribuir com doações</a:t>
            </a:r>
          </a:p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Pode criar campanhas de arrecadação</a:t>
            </a:r>
          </a:p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Encontra campanhas e instituições próximas de si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3B568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685973" y="6126309"/>
            <a:ext cx="7683784" cy="2719512"/>
            <a:chOff x="0" y="0"/>
            <a:chExt cx="10245046" cy="362601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245046" cy="3626015"/>
              <a:chOff x="0" y="0"/>
              <a:chExt cx="16601047" cy="58755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6601047" cy="5875587"/>
              </a:xfrm>
              <a:custGeom>
                <a:avLst/>
                <a:gdLst/>
                <a:ahLst/>
                <a:cxnLst/>
                <a:rect l="l" t="t" r="r" b="b"/>
                <a:pathLst>
                  <a:path w="16601047" h="5875587">
                    <a:moveTo>
                      <a:pt x="16476587" y="5875586"/>
                    </a:moveTo>
                    <a:lnTo>
                      <a:pt x="124460" y="5875586"/>
                    </a:lnTo>
                    <a:cubicBezTo>
                      <a:pt x="55880" y="5875586"/>
                      <a:pt x="0" y="5819706"/>
                      <a:pt x="0" y="575112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6476587" y="0"/>
                    </a:lnTo>
                    <a:cubicBezTo>
                      <a:pt x="16545167" y="0"/>
                      <a:pt x="16601047" y="55880"/>
                      <a:pt x="16601047" y="124460"/>
                    </a:cubicBezTo>
                    <a:lnTo>
                      <a:pt x="16601047" y="5751126"/>
                    </a:lnTo>
                    <a:cubicBezTo>
                      <a:pt x="16601047" y="5819706"/>
                      <a:pt x="16545167" y="5875587"/>
                      <a:pt x="16476587" y="5875587"/>
                    </a:cubicBezTo>
                    <a:close/>
                  </a:path>
                </a:pathLst>
              </a:custGeom>
              <a:solidFill>
                <a:srgbClr val="FFFFF7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13044" y="480354"/>
              <a:ext cx="9185212" cy="2627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ONGs e projetos com endereço fixo</a:t>
              </a:r>
            </a:p>
            <a:p>
              <a:pPr marL="496571" lvl="1" indent="-248285" algn="l">
                <a:lnSpc>
                  <a:spcPts val="32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Perfil público visível para todos os usuários</a:t>
              </a:r>
            </a:p>
            <a:p>
              <a:pPr marL="496571" lvl="1" indent="-248285" algn="l">
                <a:lnSpc>
                  <a:spcPts val="32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Pode criar e gerenciar suas próprias campanhas</a:t>
              </a:r>
            </a:p>
            <a:p>
              <a:pPr marL="496571" lvl="1" indent="-248285" algn="l">
                <a:lnSpc>
                  <a:spcPts val="32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Valida as doações recebidas presencialmente</a:t>
              </a:r>
            </a:p>
            <a:p>
              <a:pPr algn="l">
                <a:lnSpc>
                  <a:spcPts val="3220"/>
                </a:lnSpc>
                <a:spcBef>
                  <a:spcPct val="0"/>
                </a:spcBef>
              </a:pPr>
              <a:endParaRPr lang="en-US" sz="2300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725840" y="917280"/>
            <a:ext cx="4159154" cy="8452439"/>
            <a:chOff x="0" y="0"/>
            <a:chExt cx="5001260" cy="10163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09675" y="4119800"/>
            <a:ext cx="4328254" cy="221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Campanhas de Doação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2657" y="6284455"/>
            <a:ext cx="5316643" cy="2700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BB8F2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AS CAMPANHAS FICAM VISÍVEIS PARA TODA A PLATAFORMA E PODEM SER FILTRADAS POR LOCALIZAÇÃO — ASSIM O DOADOR ENCONTRA SEMPRE A OPÇÃO MAIS PRÓXIMA.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942657" y="1898339"/>
            <a:ext cx="5316643" cy="3931824"/>
            <a:chOff x="0" y="0"/>
            <a:chExt cx="7088857" cy="5242432"/>
          </a:xfrm>
        </p:grpSpPr>
        <p:sp>
          <p:nvSpPr>
            <p:cNvPr id="8" name="TextBox 8"/>
            <p:cNvSpPr txBox="1"/>
            <p:nvPr/>
          </p:nvSpPr>
          <p:spPr>
            <a:xfrm>
              <a:off x="0" y="2089366"/>
              <a:ext cx="7088857" cy="27749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43614" lvl="1" indent="-221807" algn="l">
                <a:lnSpc>
                  <a:spcPts val="28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54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Período de início e fim</a:t>
              </a:r>
            </a:p>
            <a:p>
              <a:pPr marL="443614" lvl="1" indent="-221807" algn="l">
                <a:lnSpc>
                  <a:spcPts val="28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54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Tipo de doação aceita (roupas, alimentos, etc.)</a:t>
              </a:r>
            </a:p>
            <a:p>
              <a:pPr marL="443614" lvl="1" indent="-221807" algn="l">
                <a:lnSpc>
                  <a:spcPts val="28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54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Endereço e informações de contato</a:t>
              </a:r>
            </a:p>
            <a:p>
              <a:pPr marL="443614" lvl="1" indent="-221807" algn="l">
                <a:lnSpc>
                  <a:spcPts val="28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54">
                  <a:solidFill>
                    <a:srgbClr val="3B568C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Descrição da necessidade</a:t>
              </a:r>
            </a:p>
            <a:p>
              <a:pPr algn="l">
                <a:lnSpc>
                  <a:spcPts val="2876"/>
                </a:lnSpc>
                <a:spcBef>
                  <a:spcPct val="0"/>
                </a:spcBef>
              </a:pPr>
              <a:endParaRPr lang="en-US" sz="2054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088857" cy="15498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6"/>
                </a:lnSpc>
                <a:spcBef>
                  <a:spcPct val="0"/>
                </a:spcBef>
              </a:pPr>
              <a:r>
                <a:rPr lang="en-US" sz="2254" b="1">
                  <a:solidFill>
                    <a:srgbClr val="3B7866"/>
                  </a:solidFill>
                  <a:latin typeface="Nunito Sans Semi-Bold"/>
                  <a:ea typeface="Nunito Sans Semi-Bold"/>
                  <a:cs typeface="Nunito Sans Semi-Bold"/>
                  <a:sym typeface="Nunito Sans Semi-Bold"/>
                </a:rPr>
                <a:t>AS CAMPANHAS SÃO O CORAÇÃO DO SISTEMA. QUALQUER USUÁRIO PODE CRIAR UMA CAMPANHA COM: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42678" y="3524208"/>
            <a:ext cx="3610321" cy="619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 err="1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Funcionalidades</a:t>
            </a:r>
            <a:endParaRPr lang="en-US" sz="3600" dirty="0">
              <a:solidFill>
                <a:srgbClr val="3B568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7577" y="7049230"/>
            <a:ext cx="19273375" cy="3770191"/>
            <a:chOff x="0" y="0"/>
            <a:chExt cx="41640705" cy="8145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640705" cy="8145611"/>
            </a:xfrm>
            <a:custGeom>
              <a:avLst/>
              <a:gdLst/>
              <a:ahLst/>
              <a:cxnLst/>
              <a:rect l="l" t="t" r="r" b="b"/>
              <a:pathLst>
                <a:path w="41640705" h="8145611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solidFill>
              <a:srgbClr val="FFFFF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775750" y="1156235"/>
            <a:ext cx="4159154" cy="8452439"/>
            <a:chOff x="0" y="0"/>
            <a:chExt cx="5001260" cy="101638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974" r="-97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452469"/>
            <a:ext cx="5050134" cy="216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6"/>
              </a:lnSpc>
              <a:spcBef>
                <a:spcPct val="0"/>
              </a:spcBef>
            </a:pPr>
            <a:r>
              <a:rPr lang="en-US" sz="6254">
                <a:solidFill>
                  <a:srgbClr val="3B568C"/>
                </a:solidFill>
                <a:latin typeface="Nunito Sans"/>
                <a:ea typeface="Nunito Sans"/>
                <a:cs typeface="Nunito Sans"/>
                <a:sym typeface="Nunito Sans"/>
              </a:rPr>
              <a:t>OUTROS REQUISITOS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1866" y="4032059"/>
            <a:ext cx="9048227" cy="318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7"/>
                </a:solidFill>
                <a:latin typeface="Nunito"/>
                <a:ea typeface="Nunito"/>
                <a:cs typeface="Nunito"/>
                <a:sym typeface="Nunito"/>
              </a:rPr>
              <a:t>Cadastro e login diferenciado (Doador / Instituição)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7"/>
                </a:solidFill>
                <a:latin typeface="Nunito"/>
                <a:ea typeface="Nunito"/>
                <a:cs typeface="Nunito"/>
                <a:sym typeface="Nunito"/>
              </a:rPr>
              <a:t>Mapa interativo com campanhas e instituições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7"/>
                </a:solidFill>
                <a:latin typeface="Nunito"/>
                <a:ea typeface="Nunito"/>
                <a:cs typeface="Nunito"/>
                <a:sym typeface="Nunito"/>
              </a:rPr>
              <a:t>Filtro por tipo de doação e por localização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7"/>
                </a:solidFill>
                <a:latin typeface="Nunito"/>
                <a:ea typeface="Nunito"/>
                <a:cs typeface="Nunito"/>
                <a:sym typeface="Nunito"/>
              </a:rPr>
              <a:t>Visualização de detalhes: fotos, descrição, contato e avaliação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7"/>
                </a:solidFill>
                <a:latin typeface="Nunito"/>
                <a:ea typeface="Nunito"/>
                <a:cs typeface="Nunito"/>
                <a:sym typeface="Nunito"/>
              </a:rPr>
              <a:t>Dashboard com métricas do perfil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1866" y="7322948"/>
            <a:ext cx="9048227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Salvar instituições favoritas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Notificações de novas campanhas próximas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Validação de doações realizadas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Compartilhamento externo de campanhas</a:t>
            </a:r>
          </a:p>
          <a:p>
            <a:pPr marL="561334" lvl="1" indent="-280667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Denúncia de pontos irregulares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3B568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582803"/>
            <a:ext cx="3868584" cy="6045256"/>
          </a:xfrm>
          <a:custGeom>
            <a:avLst/>
            <a:gdLst/>
            <a:ahLst/>
            <a:cxnLst/>
            <a:rect l="l" t="t" r="r" b="b"/>
            <a:pathLst>
              <a:path w="3868584" h="6045256">
                <a:moveTo>
                  <a:pt x="0" y="0"/>
                </a:moveTo>
                <a:lnTo>
                  <a:pt x="3868584" y="0"/>
                </a:lnTo>
                <a:lnTo>
                  <a:pt x="3868584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3966094" y="6120396"/>
            <a:ext cx="3293206" cy="3137904"/>
            <a:chOff x="0" y="0"/>
            <a:chExt cx="7520159" cy="71655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20159" cy="7165521"/>
            </a:xfrm>
            <a:custGeom>
              <a:avLst/>
              <a:gdLst/>
              <a:ahLst/>
              <a:cxnLst/>
              <a:rect l="l" t="t" r="r" b="b"/>
              <a:pathLst>
                <a:path w="7520159" h="7165521">
                  <a:moveTo>
                    <a:pt x="7395699" y="7165521"/>
                  </a:moveTo>
                  <a:lnTo>
                    <a:pt x="124460" y="7165521"/>
                  </a:lnTo>
                  <a:cubicBezTo>
                    <a:pt x="55880" y="7165521"/>
                    <a:pt x="0" y="7109640"/>
                    <a:pt x="0" y="704106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395699" y="0"/>
                  </a:lnTo>
                  <a:cubicBezTo>
                    <a:pt x="7464279" y="0"/>
                    <a:pt x="7520159" y="55880"/>
                    <a:pt x="7520159" y="124460"/>
                  </a:cubicBezTo>
                  <a:lnTo>
                    <a:pt x="7520159" y="7041061"/>
                  </a:lnTo>
                  <a:cubicBezTo>
                    <a:pt x="7520159" y="7109640"/>
                    <a:pt x="7464279" y="7165521"/>
                    <a:pt x="7395699" y="7165521"/>
                  </a:cubicBezTo>
                  <a:close/>
                </a:path>
              </a:pathLst>
            </a:custGeom>
            <a:solidFill>
              <a:srgbClr val="3B568C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Freeform 5"/>
          <p:cNvSpPr/>
          <p:nvPr/>
        </p:nvSpPr>
        <p:spPr>
          <a:xfrm>
            <a:off x="14163713" y="6258805"/>
            <a:ext cx="2897968" cy="2861085"/>
          </a:xfrm>
          <a:custGeom>
            <a:avLst/>
            <a:gdLst/>
            <a:ahLst/>
            <a:cxnLst/>
            <a:rect l="l" t="t" r="r" b="b"/>
            <a:pathLst>
              <a:path w="2897968" h="2861085">
                <a:moveTo>
                  <a:pt x="0" y="0"/>
                </a:moveTo>
                <a:lnTo>
                  <a:pt x="2897968" y="0"/>
                </a:lnTo>
                <a:lnTo>
                  <a:pt x="2897968" y="2861085"/>
                </a:lnTo>
                <a:lnTo>
                  <a:pt x="0" y="2861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2826136" y="2582803"/>
            <a:ext cx="4235545" cy="1980602"/>
          </a:xfrm>
          <a:custGeom>
            <a:avLst/>
            <a:gdLst/>
            <a:ahLst/>
            <a:cxnLst/>
            <a:rect l="l" t="t" r="r" b="b"/>
            <a:pathLst>
              <a:path w="4235545" h="1980602">
                <a:moveTo>
                  <a:pt x="0" y="0"/>
                </a:moveTo>
                <a:lnTo>
                  <a:pt x="4235545" y="0"/>
                </a:lnTo>
                <a:lnTo>
                  <a:pt x="4235545" y="1980602"/>
                </a:lnTo>
                <a:lnTo>
                  <a:pt x="0" y="1980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28700" y="923925"/>
            <a:ext cx="8363952" cy="90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3B568C"/>
                </a:solidFill>
                <a:latin typeface="Nunito"/>
                <a:ea typeface="Nunito"/>
                <a:cs typeface="Nunito"/>
                <a:sym typeface="Nunito"/>
              </a:rPr>
              <a:t>Design : Identidade Visual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0676" y="2535178"/>
            <a:ext cx="6333635" cy="261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  <a:spcBef>
                <a:spcPct val="0"/>
              </a:spcBef>
            </a:pPr>
            <a:r>
              <a:rPr lang="en-US" sz="2482" b="1" spc="136">
                <a:solidFill>
                  <a:srgbClr val="3B568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CONCEITO:</a:t>
            </a:r>
            <a:r>
              <a:rPr lang="en-US" sz="2482" b="1" spc="136">
                <a:solidFill>
                  <a:srgbClr val="3B568C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 HUMANIZAÇÃO, CLAREZA E CONFIANÇA — VALORES ESSENCIAIS PARA UM APP DE IMPACTO SOCIAL.</a:t>
            </a:r>
          </a:p>
          <a:p>
            <a:pPr algn="l">
              <a:lnSpc>
                <a:spcPts val="3475"/>
              </a:lnSpc>
              <a:spcBef>
                <a:spcPct val="0"/>
              </a:spcBef>
            </a:pPr>
            <a:endParaRPr lang="en-US" sz="2482" b="1" spc="136">
              <a:solidFill>
                <a:srgbClr val="3B568C"/>
              </a:solidFill>
              <a:latin typeface="Nunito Sans Semi-Bold"/>
              <a:ea typeface="Nunito Sans Semi-Bold"/>
              <a:cs typeface="Nunito Sans Semi-Bold"/>
              <a:sym typeface="Nunito Sans Semi-Bold"/>
            </a:endParaRPr>
          </a:p>
          <a:p>
            <a:pPr algn="l">
              <a:lnSpc>
                <a:spcPts val="3475"/>
              </a:lnSpc>
              <a:spcBef>
                <a:spcPct val="0"/>
              </a:spcBef>
            </a:pPr>
            <a:endParaRPr lang="en-US" sz="2482" b="1" spc="136">
              <a:solidFill>
                <a:srgbClr val="3B568C"/>
              </a:solidFill>
              <a:latin typeface="Nunito Sans Semi-Bold"/>
              <a:ea typeface="Nunito Sans Semi-Bold"/>
              <a:cs typeface="Nunito Sans Semi-Bold"/>
              <a:sym typeface="Nunito Sans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50955" y="6644822"/>
            <a:ext cx="6333635" cy="261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75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3475"/>
              </a:lnSpc>
              <a:spcBef>
                <a:spcPct val="0"/>
              </a:spcBef>
            </a:pPr>
            <a:endParaRPr/>
          </a:p>
          <a:p>
            <a:pPr algn="r">
              <a:lnSpc>
                <a:spcPts val="3475"/>
              </a:lnSpc>
              <a:spcBef>
                <a:spcPct val="0"/>
              </a:spcBef>
            </a:pPr>
            <a:r>
              <a:rPr lang="en-US" sz="2482" b="1" spc="136">
                <a:solidFill>
                  <a:srgbClr val="3B568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LOGO: </a:t>
            </a:r>
            <a:r>
              <a:rPr lang="en-US" sz="2482" b="1" spc="136">
                <a:solidFill>
                  <a:srgbClr val="3B568C"/>
                </a:solidFill>
                <a:latin typeface="Nunito Sans Semi-Bold"/>
                <a:ea typeface="Nunito Sans Semi-Bold"/>
                <a:cs typeface="Nunito Sans Semi-Bold"/>
                <a:sym typeface="Nunito Sans Semi-Bold"/>
              </a:rPr>
              <a:t>TIPOGRAFIA MANUSCRITA COM FORMAS ORGÂNICAS, REPRESENTANDO CONEXÃO E PROXIMIDADE HUMANA.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761587" y="405322"/>
            <a:ext cx="5890541" cy="11971050"/>
            <a:chOff x="0" y="0"/>
            <a:chExt cx="5001260" cy="10163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t="-374" b="-37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02351" y="4283884"/>
            <a:ext cx="4339084" cy="2106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8"/>
              </a:lnSpc>
            </a:pPr>
            <a:r>
              <a:rPr lang="en-US" sz="12298">
                <a:solidFill>
                  <a:srgbClr val="3B568C"/>
                </a:solidFill>
                <a:latin typeface="Amatic SC"/>
                <a:ea typeface="Amatic SC"/>
                <a:cs typeface="Amatic SC"/>
                <a:sym typeface="Amatic SC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1346</Words>
  <Application>Microsoft Office PowerPoint</Application>
  <PresentationFormat>Personalizar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Nunito</vt:lpstr>
      <vt:lpstr>Amatic SC</vt:lpstr>
      <vt:lpstr>Nunito Sans Semi-Bold</vt:lpstr>
      <vt:lpstr>Arial</vt:lpstr>
      <vt:lpstr>Nunito Sans</vt:lpstr>
      <vt:lpstr>Nunito Sans Bold</vt:lpstr>
      <vt:lpstr>Aptos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Isabela Mendonça Silveira</dc:creator>
  <cp:lastModifiedBy>Isabela Mendonça Silveira</cp:lastModifiedBy>
  <cp:revision>1</cp:revision>
  <dcterms:created xsi:type="dcterms:W3CDTF">2006-08-16T00:00:00Z</dcterms:created>
  <dcterms:modified xsi:type="dcterms:W3CDTF">2026-06-17T22:05:07Z</dcterms:modified>
  <dc:identifier>DAHM2GPmSPY</dc:identifier>
</cp:coreProperties>
</file>